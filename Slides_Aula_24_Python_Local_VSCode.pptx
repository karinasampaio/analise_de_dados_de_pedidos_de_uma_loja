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B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30" kern="0" dirty="0">
                <a:solidFill>
                  <a:srgbClr val="7A8A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FORMAÇÃO EM ANÁLISE DE DADOS • PYTHON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30" kern="0" dirty="0">
                <a:solidFill>
                  <a:srgbClr val="7A8A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FORMAÇÃO EM ANÁLISE DE DADOS • PYTHON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6"/>
          </a:solidFill>
          <a:ln w="12700">
            <a:solidFill>
              <a:srgbClr val="0B1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60120"/>
            <a:ext cx="10058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70432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24 — INICIANDO COM PYTHON LOCAL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76656" y="2450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INSTALAÇÃO, VS CODE, SINTAXE E REVISÃO DE ESTRUTURAS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440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8B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24/09 • Aula de 3h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F91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3H • TEORIA + PRÁTICA • COLAB + VS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41080" y="11430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11D20">
              <a:alpha val="95000"/>
            </a:srgbClr>
          </a:solidFill>
          <a:ln w="17780">
            <a:solidFill>
              <a:srgbClr val="284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0" y="1828800"/>
            <a:ext cx="1463040" cy="1463040"/>
          </a:xfrm>
          <a:prstGeom prst="ellipse">
            <a:avLst/>
          </a:prstGeom>
          <a:solidFill>
            <a:srgbClr val="22C55E">
              <a:alpha val="82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&lt;/&gt;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098280" y="3794760"/>
            <a:ext cx="173736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840" y="420624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0" y="4206240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4389120"/>
            <a:ext cx="10972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 E ROTEIRO DE 3H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6673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NOTEBOOK AO ARQUIVO 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721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417320"/>
            <a:ext cx="5724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0:00–0:25 — Colab x execução local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0208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965960"/>
            <a:ext cx="5724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0:25–0:55 — Python, VS Code e extensão Python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6946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514600"/>
            <a:ext cx="5724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0:55–1:25 — Sintaxe, variáveis, tipos, input e print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063240"/>
            <a:ext cx="5724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1:25–1:40 — Intervalo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6667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611880"/>
            <a:ext cx="5724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1:40–2:10 — Revisão: operadores, if, for e while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2153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160520"/>
            <a:ext cx="5724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2:10–3:00 — Projeto no Colab e no VS Code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0" y="1645920"/>
            <a:ext cx="4251960" cy="2468880"/>
          </a:xfrm>
          <a:prstGeom prst="roundRect">
            <a:avLst>
              <a:gd name="adj" fmla="val 2963"/>
            </a:avLst>
          </a:prstGeom>
          <a:solidFill>
            <a:srgbClr val="EEF2F0"/>
          </a:solidFill>
          <a:ln w="12700">
            <a:solidFill>
              <a:srgbClr val="D1DD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792224"/>
            <a:ext cx="39227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arquivo.py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 código salvo no projeto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 executado pelo interpretador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 fácil versionar com Git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8F5ED"/>
          </a:solidFill>
          <a:ln w="12700">
            <a:solidFill>
              <a:srgbClr val="CBE4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PONTE ENTRE COLAB E AMBIENTE LOCAL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TRÊS PEÇAS DIFERENTES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9CC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EDITOR, EXTENSÃO E INTERPRETADOR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1463040"/>
          </a:xfrm>
          <a:prstGeom prst="roundRect">
            <a:avLst>
              <a:gd name="adj" fmla="val 2500"/>
            </a:avLst>
          </a:prstGeom>
          <a:solidFill>
            <a:srgbClr val="13222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01952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onde escrevemos e organizamos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26280" y="1828800"/>
            <a:ext cx="3108960" cy="1463040"/>
          </a:xfrm>
          <a:prstGeom prst="roundRect">
            <a:avLst>
              <a:gd name="adj" fmla="val 2500"/>
            </a:avLst>
          </a:prstGeom>
          <a:solidFill>
            <a:srgbClr val="13222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432" y="1901952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EXTENSÃO PYTHON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recursos de linguagem e execução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0" y="1828800"/>
            <a:ext cx="3108960" cy="1463040"/>
          </a:xfrm>
          <a:prstGeom prst="roundRect">
            <a:avLst>
              <a:gd name="adj" fmla="val 2500"/>
            </a:avLst>
          </a:prstGeom>
          <a:solidFill>
            <a:srgbClr val="13222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85632" y="1901952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INTERPRETADOR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quem realmente executa o código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49040" y="2560320"/>
            <a:ext cx="77724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35240" y="2560320"/>
            <a:ext cx="77724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63040" y="4389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Instalar a extensão Python NÃO instala o Python.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122024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CONCEITO QUE EVITA MUITA CONFUSÃO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INSTALAÇÃO LOCAL — VISÃO ATUAL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6673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+ VS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721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417320"/>
            <a:ext cx="590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Instalar Python por método aprovado no laboratório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208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965960"/>
            <a:ext cx="590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Testar `py --version` ou `python --version`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6946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514600"/>
            <a:ext cx="590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Instalar VS Code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181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063240"/>
            <a:ext cx="590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Instalar a extensão oficial Python (Microsoft)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667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611880"/>
            <a:ext cx="590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Selecionar interpretador: Python: Select Interpreter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2153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4160520"/>
            <a:ext cx="590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Criar `teste.py` e executar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78040" y="1508760"/>
            <a:ext cx="4069080" cy="2286000"/>
          </a:xfrm>
          <a:prstGeom prst="roundRect">
            <a:avLst>
              <a:gd name="adj" fmla="val 3200"/>
            </a:avLst>
          </a:prstGeom>
          <a:solidFill>
            <a:srgbClr val="EEF2F0"/>
          </a:solidFill>
          <a:ln w="12700">
            <a:solidFill>
              <a:srgbClr val="D1DD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1655064"/>
            <a:ext cx="37398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print("Python local funcionando!")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terminal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teste.py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ou, em muitos Windows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 teste.py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41605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3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Windows atual, o projeto Python recomenda o Python install manager para muitos usuários. Em laboratório, prevalece a política de TI.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8F5ED"/>
          </a:solidFill>
          <a:ln w="12700">
            <a:solidFill>
              <a:srgbClr val="CBE4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INSTALAR E TESTAR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SINTAXE BÁSICA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9CC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PEQUENAS REGRAS QUE MUDAM TUDO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172226"/>
          </a:solidFill>
          <a:ln w="12700">
            <a:solidFill>
              <a:srgbClr val="2A3B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63624"/>
            <a:ext cx="4700016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comentário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nome = "Ana"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idade = 28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salario = 4200.50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ativo = 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print(nome)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print(type(idade))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5636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7376" y="1508760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diferencia maiúsculas e minúsculas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11226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2057400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Indentação define blocos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6609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2606040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`=` atribui valor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95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3154680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strings usam aspas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37581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3703320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`#` inicia comentário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43068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4251960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`type()` revela o tipo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122024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LER CÓDIGO COMO FRASES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INPUT, CONVERSÃO E SAÍDA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6673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TEXTO ENTRA; O PROGRAMA TRANSFORMA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166360" cy="2560320"/>
          </a:xfrm>
          <a:prstGeom prst="roundRect">
            <a:avLst>
              <a:gd name="adj" fmla="val 2857"/>
            </a:avLst>
          </a:prstGeom>
          <a:solidFill>
            <a:srgbClr val="EEF2F0"/>
          </a:solidFill>
          <a:ln w="12700">
            <a:solidFill>
              <a:srgbClr val="D1DD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655064"/>
            <a:ext cx="483717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idade = input("Idade: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print(type(idade))      # str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idade = int(idade)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print(type(idade))      # 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5080" y="1508760"/>
            <a:ext cx="5074920" cy="2560320"/>
          </a:xfrm>
          <a:prstGeom prst="roundRect">
            <a:avLst>
              <a:gd name="adj" fmla="val 2857"/>
            </a:avLst>
          </a:prstGeom>
          <a:solidFill>
            <a:srgbClr val="EEF2F0"/>
          </a:solidFill>
          <a:ln w="12700">
            <a:solidFill>
              <a:srgbClr val="D1DD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9672" y="1655064"/>
            <a:ext cx="47457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preco = float(input("Preço: R$ 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print(f"Preço final: R$ {preco:.2f}")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 clássico: "10" + "5" → "105". Antes de calcular, converta o texto para número.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8F5ED"/>
          </a:solidFill>
          <a:ln w="12700">
            <a:solidFill>
              <a:srgbClr val="CBE4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ENTRADA PRECISA DE TIPO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OPERADORES — REVISÃO ORIENTADA A PROBLEMAS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9CC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CALCULAR, COMPARAR E COMBINAR CONDIÇÕES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789920" cy="310896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Grupo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Operadores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Pergunta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Aritméticos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  -  *  /  //  %  **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qual é o resultado do cálculo?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Relacionais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==  !=  &gt;  &lt;  &gt;=  &lt;=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 comparação é True ou False?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Lógicos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and  or  not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como combinar condições?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122024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OPERADOR RESPONDE UMA PERGUNTA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CONDICIONAIS — REVISÃO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6673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PROGRAMA ESCOLHE UM CAMINHO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4983480" cy="3108960"/>
          </a:xfrm>
          <a:prstGeom prst="roundRect">
            <a:avLst>
              <a:gd name="adj" fmla="val 2353"/>
            </a:avLst>
          </a:prstGeom>
          <a:solidFill>
            <a:srgbClr val="EEF2F0"/>
          </a:solidFill>
          <a:ln w="12700">
            <a:solidFill>
              <a:srgbClr val="D1DD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609344"/>
            <a:ext cx="465429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valor &gt;= 250: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classificacao = "ALTO"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elif valor &gt;= 100: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classificacao = "MÉDIO"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classificacao = "BAIXO"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95160" y="1554480"/>
            <a:ext cx="1828800" cy="1371600"/>
          </a:xfrm>
          <a:prstGeom prst="diamond">
            <a:avLst/>
          </a:prstGeom>
          <a:solidFill>
            <a:srgbClr val="E7F8EE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&gt;= 250?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09560" y="2926080"/>
            <a:ext cx="-1828800" cy="114300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09560" y="2926080"/>
            <a:ext cx="1828800" cy="114300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400800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ordem das condições importa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8F5ED"/>
          </a:solidFill>
          <a:ln w="12700">
            <a:solidFill>
              <a:srgbClr val="CBE4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/ ELIF / ELSE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 WHILE — REVISÃO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9CC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QUANTIDADE CONHECIDA X CONDIÇÃO DE PARADA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111D20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64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41248" y="2148840"/>
            <a:ext cx="48006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quando quer percorrer uma coleção ou repetir uma quantidade conhecida.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venda in vendas: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total += venda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389888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111D20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64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8006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quando a repetição depende de uma condição.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valor &lt; 0: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valor = float(input(...))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122024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ESCOLHA PELO TIPO DE REPETIÇÃO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COLAB X VS CODE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6673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MESMA LINGUAGEM, AMBIENTES DIFERENTES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332720" cy="3291840"/>
        </p:xfrm>
        <a:graphic>
          <a:graphicData uri="http://schemas.openxmlformats.org/drawingml/2006/table">
            <a:tbl>
              <a:tblPr/>
              <a:tblGrid>
                <a:gridCol w="5166360"/>
                <a:gridCol w="5166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53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Colab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53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VS Code + Python local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61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ótimo para notebooks e experimentos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61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ótimo para projetos em arquivos e pastas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61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ambiente na nuvem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61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ambiente no computador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61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células executadas separadamente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61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script executado como programa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61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runtime pode reiniciar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61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arquivos persistem na pasta local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8F5ED"/>
          </a:solidFill>
          <a:ln w="12700">
            <a:solidFill>
              <a:srgbClr val="CBE4D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É “UM OU OUTRO”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PRÁTICA COLAB — SIMULADOR DE PEDIDO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9CC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INTEGRE VARIÁVEIS, IF, FOR E WHILE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721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417320"/>
            <a:ext cx="5541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Receber cliente e valor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0208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965960"/>
            <a:ext cx="5541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Impedir valor negativo com `while`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6946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514600"/>
            <a:ext cx="5541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Classificar pedido em ALTO / MÉDIO / BAIXO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063240"/>
            <a:ext cx="5541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desconto de 10% quando valor &gt;= 200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6667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611880"/>
            <a:ext cx="5541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Mostrar resumo formatado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66560" y="160020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172226"/>
          </a:solidFill>
          <a:ln w="12700">
            <a:solidFill>
              <a:srgbClr val="2A3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746504"/>
            <a:ext cx="41513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cliente = input("Nome: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valor = float(input("Valor: "))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TODO: validar, classificar e exibir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122024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PRÁTICA 1 • COLAB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PRÁTICA VS CODE — DO NOTEBOOK AO .PY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6673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 O MESMO RACIOCÍNIO EM UM PROJETO LOCAL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2860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19072"/>
            <a:ext cx="2139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645920"/>
            <a:ext cx="22860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0712" y="1719072"/>
            <a:ext cx="2139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SELECIONAR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22860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08192" y="1719072"/>
            <a:ext cx="2139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pedido.py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1645920"/>
            <a:ext cx="22860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05672" y="1719072"/>
            <a:ext cx="2139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TERMINAL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2148840"/>
            <a:ext cx="41148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23560" y="2148840"/>
            <a:ext cx="41148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148840"/>
            <a:ext cx="41148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397764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EEF2F0"/>
          </a:solidFill>
          <a:ln w="12700">
            <a:solidFill>
              <a:srgbClr val="D1DD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4123944"/>
            <a:ext cx="3922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pedido.py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ou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 pedido.py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8F5ED"/>
          </a:solidFill>
          <a:ln w="12700">
            <a:solidFill>
              <a:srgbClr val="CBE4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PRÁTICA 2 • VS CODE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ERROS ÚTEIS PARA APRENDER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9CC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LEIA A MENSAGEM ANTES DE TENTAR “CONSERTAR TUDO”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508760"/>
          <a:ext cx="10149840" cy="3291840"/>
        </p:xfrm>
        <a:graphic>
          <a:graphicData uri="http://schemas.openxmlformats.org/drawingml/2006/table">
            <a:tbl>
              <a:tblPr/>
              <a:tblGrid>
                <a:gridCol w="5074920"/>
                <a:gridCol w="5074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Erro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Pista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SyntaxError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 estrutura da linguagem está inválida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IndentationError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bloco não está alinhado corretamente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NameError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nome/variável não existe naquele ponto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ValueError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conversão recebeu um valor incompatível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1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5074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Debug começa com: ler → localizar linha → entender causa → testar uma mudança pequena.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122024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 É INFORMAÇÃO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FECHAMENTO DA AULA 24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6673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DEVE ESTAR CONSOLIDADO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721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417320"/>
            <a:ext cx="10021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Code, extensão Python e interpretador são componentes distintos.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208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965960"/>
            <a:ext cx="10021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`.py` é um arquivo de código executável pelo interpretador.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56946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514600"/>
            <a:ext cx="10021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`input()` retorna texto; conversão de tipo é responsabilidade do programa.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1181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063240"/>
            <a:ext cx="10021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Indentação faz parte da sintaxe.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6667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611880"/>
            <a:ext cx="10021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if, for e while resolvem problemas diferentes.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160520"/>
            <a:ext cx="10021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161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Próxima aula: organizar muitos dados com coleções.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8F5ED"/>
          </a:solidFill>
          <a:ln w="12700">
            <a:solidFill>
              <a:srgbClr val="CBE4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SÍNTESE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FONTES VERIFICADAS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9CC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INSTALAÇÃO E AMBIENTE LOCAL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Windows: python.org/downloads/windows/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install manager: python.org/downloads/release/pymanager-263/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 Python tutorial: code.visualstudio.com/docs/python/python-tutorial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quick start: code.visualstudio.com/docs/python/python-quick-start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6245352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122024"/>
          </a:solidFill>
          <a:ln w="12700">
            <a:solidFill>
              <a:srgbClr val="284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631850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CONSULTADO EM 19/09/2026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8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Git e Python</dc:title>
  <dc:subject>Aulas 22, 24 e 25 — Git, GitHub e Python</dc:subject>
  <dc:creator>OpenAI</dc:creator>
  <cp:lastModifiedBy>OpenAI</cp:lastModifiedBy>
  <cp:revision>1</cp:revision>
  <dcterms:created xsi:type="dcterms:W3CDTF">2026-09-19T21:50:40Z</dcterms:created>
  <dcterms:modified xsi:type="dcterms:W3CDTF">2026-09-19T21:50:40Z</dcterms:modified>
</cp:coreProperties>
</file>